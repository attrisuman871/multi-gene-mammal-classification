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1"/>
  </p:sldMasterIdLst>
  <p:sldIdLst>
    <p:sldId id="256" r:id="rId2"/>
    <p:sldId id="257" r:id="rId3"/>
    <p:sldId id="258" r:id="rId4"/>
    <p:sldId id="273" r:id="rId5"/>
    <p:sldId id="259" r:id="rId6"/>
    <p:sldId id="260" r:id="rId7"/>
    <p:sldId id="276" r:id="rId8"/>
    <p:sldId id="269" r:id="rId9"/>
    <p:sldId id="275" r:id="rId10"/>
    <p:sldId id="274" r:id="rId11"/>
    <p:sldId id="261" r:id="rId12"/>
    <p:sldId id="270" r:id="rId13"/>
    <p:sldId id="271" r:id="rId14"/>
    <p:sldId id="262" r:id="rId15"/>
    <p:sldId id="272" r:id="rId16"/>
    <p:sldId id="263" r:id="rId17"/>
    <p:sldId id="265" r:id="rId18"/>
    <p:sldId id="277" r:id="rId19"/>
    <p:sldId id="264" r:id="rId20"/>
    <p:sldId id="266" r:id="rId21"/>
    <p:sldId id="267" r:id="rId22"/>
    <p:sldId id="268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714" y="2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7CFA9B-4F95-4942-84AE-9F7C2713AD9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83A2056-B845-400A-9FD2-D0074051001E}">
      <dgm:prSet/>
      <dgm:spPr/>
      <dgm:t>
        <a:bodyPr/>
        <a:lstStyle/>
        <a:p>
          <a:r>
            <a:rPr lang="en-US" b="1" i="0"/>
            <a:t>BioVec performed well in clustering</a:t>
          </a:r>
          <a:r>
            <a:rPr lang="en-US" b="0" i="0"/>
            <a:t>, but </a:t>
          </a:r>
          <a:r>
            <a:rPr lang="en-US" b="1" i="0"/>
            <a:t>one-hot performed better in classification</a:t>
          </a:r>
          <a:endParaRPr lang="en-US"/>
        </a:p>
      </dgm:t>
    </dgm:pt>
    <dgm:pt modelId="{1BC55E31-9874-4957-B5D0-7F542D9DD12F}" type="parTrans" cxnId="{67FC1BBF-990C-4F28-B058-014660EC8BC3}">
      <dgm:prSet/>
      <dgm:spPr/>
      <dgm:t>
        <a:bodyPr/>
        <a:lstStyle/>
        <a:p>
          <a:endParaRPr lang="en-US"/>
        </a:p>
      </dgm:t>
    </dgm:pt>
    <dgm:pt modelId="{126B3A8B-8989-42A6-9EA6-61ACAE93CACE}" type="sibTrans" cxnId="{67FC1BBF-990C-4F28-B058-014660EC8BC3}">
      <dgm:prSet/>
      <dgm:spPr/>
      <dgm:t>
        <a:bodyPr/>
        <a:lstStyle/>
        <a:p>
          <a:endParaRPr lang="en-US"/>
        </a:p>
      </dgm:t>
    </dgm:pt>
    <dgm:pt modelId="{EDF7461B-9656-4384-82D5-02A825181B78}">
      <dgm:prSet/>
      <dgm:spPr/>
      <dgm:t>
        <a:bodyPr/>
        <a:lstStyle/>
        <a:p>
          <a:r>
            <a:rPr lang="en-US" b="0" i="0"/>
            <a:t>Best clustering: BioVec + cosine distance</a:t>
          </a:r>
          <a:endParaRPr lang="en-US"/>
        </a:p>
      </dgm:t>
    </dgm:pt>
    <dgm:pt modelId="{0D656C55-A72D-4CDE-A704-31866E719539}" type="parTrans" cxnId="{DC2F1D25-3C76-4E66-B264-A06833124304}">
      <dgm:prSet/>
      <dgm:spPr/>
      <dgm:t>
        <a:bodyPr/>
        <a:lstStyle/>
        <a:p>
          <a:endParaRPr lang="en-US"/>
        </a:p>
      </dgm:t>
    </dgm:pt>
    <dgm:pt modelId="{68A2884E-5BFC-4CA3-B565-7344B5A0C779}" type="sibTrans" cxnId="{DC2F1D25-3C76-4E66-B264-A06833124304}">
      <dgm:prSet/>
      <dgm:spPr/>
      <dgm:t>
        <a:bodyPr/>
        <a:lstStyle/>
        <a:p>
          <a:endParaRPr lang="en-US"/>
        </a:p>
      </dgm:t>
    </dgm:pt>
    <dgm:pt modelId="{D7256E44-79B4-471B-B811-BF81D64FAF97}">
      <dgm:prSet/>
      <dgm:spPr/>
      <dgm:t>
        <a:bodyPr/>
        <a:lstStyle/>
        <a:p>
          <a:r>
            <a:rPr lang="en-US" b="0" i="0"/>
            <a:t>Best classification: One-hot encoding + multi-input CNN</a:t>
          </a:r>
          <a:endParaRPr lang="en-US"/>
        </a:p>
      </dgm:t>
    </dgm:pt>
    <dgm:pt modelId="{5B87F427-506E-417D-B026-22E5E5EB9289}" type="parTrans" cxnId="{44A9A19F-C854-409A-B0E7-EF4A2F5227BA}">
      <dgm:prSet/>
      <dgm:spPr/>
      <dgm:t>
        <a:bodyPr/>
        <a:lstStyle/>
        <a:p>
          <a:endParaRPr lang="en-US"/>
        </a:p>
      </dgm:t>
    </dgm:pt>
    <dgm:pt modelId="{274E0853-7D4E-4382-A935-3E451BA5B38B}" type="sibTrans" cxnId="{44A9A19F-C854-409A-B0E7-EF4A2F5227BA}">
      <dgm:prSet/>
      <dgm:spPr/>
      <dgm:t>
        <a:bodyPr/>
        <a:lstStyle/>
        <a:p>
          <a:endParaRPr lang="en-US"/>
        </a:p>
      </dgm:t>
    </dgm:pt>
    <dgm:pt modelId="{055A4720-DB6D-4819-B617-3D3653660B57}" type="pres">
      <dgm:prSet presAssocID="{DA7CFA9B-4F95-4942-84AE-9F7C2713AD9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B4A0B0C-92FF-4EF5-9C69-E804F3F10CD2}" type="pres">
      <dgm:prSet presAssocID="{C83A2056-B845-400A-9FD2-D0074051001E}" presName="hierRoot1" presStyleCnt="0"/>
      <dgm:spPr/>
    </dgm:pt>
    <dgm:pt modelId="{031F6479-CE9A-4F43-9327-2ADEC9EB5F24}" type="pres">
      <dgm:prSet presAssocID="{C83A2056-B845-400A-9FD2-D0074051001E}" presName="composite" presStyleCnt="0"/>
      <dgm:spPr/>
    </dgm:pt>
    <dgm:pt modelId="{627DB538-4D21-47EF-9E7F-B6BC6B6A8E8D}" type="pres">
      <dgm:prSet presAssocID="{C83A2056-B845-400A-9FD2-D0074051001E}" presName="background" presStyleLbl="node0" presStyleIdx="0" presStyleCnt="3"/>
      <dgm:spPr/>
    </dgm:pt>
    <dgm:pt modelId="{D0588B76-4E36-4BD2-AFFE-5AE86BE5F86A}" type="pres">
      <dgm:prSet presAssocID="{C83A2056-B845-400A-9FD2-D0074051001E}" presName="text" presStyleLbl="fgAcc0" presStyleIdx="0" presStyleCnt="3">
        <dgm:presLayoutVars>
          <dgm:chPref val="3"/>
        </dgm:presLayoutVars>
      </dgm:prSet>
      <dgm:spPr/>
    </dgm:pt>
    <dgm:pt modelId="{4463B904-3B71-4C3C-BE8A-C74AE020600E}" type="pres">
      <dgm:prSet presAssocID="{C83A2056-B845-400A-9FD2-D0074051001E}" presName="hierChild2" presStyleCnt="0"/>
      <dgm:spPr/>
    </dgm:pt>
    <dgm:pt modelId="{3AEFC50A-3288-400B-85A9-27B63CA129B2}" type="pres">
      <dgm:prSet presAssocID="{EDF7461B-9656-4384-82D5-02A825181B78}" presName="hierRoot1" presStyleCnt="0"/>
      <dgm:spPr/>
    </dgm:pt>
    <dgm:pt modelId="{45295653-6E21-4E20-976F-583927169793}" type="pres">
      <dgm:prSet presAssocID="{EDF7461B-9656-4384-82D5-02A825181B78}" presName="composite" presStyleCnt="0"/>
      <dgm:spPr/>
    </dgm:pt>
    <dgm:pt modelId="{5A3C83D5-8D72-44D1-9710-84B67B284ED3}" type="pres">
      <dgm:prSet presAssocID="{EDF7461B-9656-4384-82D5-02A825181B78}" presName="background" presStyleLbl="node0" presStyleIdx="1" presStyleCnt="3"/>
      <dgm:spPr/>
    </dgm:pt>
    <dgm:pt modelId="{72B70CB2-A5E1-485C-A807-7E3BE9BF41BA}" type="pres">
      <dgm:prSet presAssocID="{EDF7461B-9656-4384-82D5-02A825181B78}" presName="text" presStyleLbl="fgAcc0" presStyleIdx="1" presStyleCnt="3">
        <dgm:presLayoutVars>
          <dgm:chPref val="3"/>
        </dgm:presLayoutVars>
      </dgm:prSet>
      <dgm:spPr/>
    </dgm:pt>
    <dgm:pt modelId="{A6906F14-641A-4A57-BCD7-F32A05D8D90E}" type="pres">
      <dgm:prSet presAssocID="{EDF7461B-9656-4384-82D5-02A825181B78}" presName="hierChild2" presStyleCnt="0"/>
      <dgm:spPr/>
    </dgm:pt>
    <dgm:pt modelId="{6349FA3A-A714-4E0D-A5AD-1AD8A7E844C6}" type="pres">
      <dgm:prSet presAssocID="{D7256E44-79B4-471B-B811-BF81D64FAF97}" presName="hierRoot1" presStyleCnt="0"/>
      <dgm:spPr/>
    </dgm:pt>
    <dgm:pt modelId="{1F095C51-0449-414B-8C2F-B5F97F37456F}" type="pres">
      <dgm:prSet presAssocID="{D7256E44-79B4-471B-B811-BF81D64FAF97}" presName="composite" presStyleCnt="0"/>
      <dgm:spPr/>
    </dgm:pt>
    <dgm:pt modelId="{E7500567-3BFF-468A-8627-12DDEBB2B4E2}" type="pres">
      <dgm:prSet presAssocID="{D7256E44-79B4-471B-B811-BF81D64FAF97}" presName="background" presStyleLbl="node0" presStyleIdx="2" presStyleCnt="3"/>
      <dgm:spPr/>
    </dgm:pt>
    <dgm:pt modelId="{71BA17D7-C89F-4AAB-885B-349042CAC3B7}" type="pres">
      <dgm:prSet presAssocID="{D7256E44-79B4-471B-B811-BF81D64FAF97}" presName="text" presStyleLbl="fgAcc0" presStyleIdx="2" presStyleCnt="3">
        <dgm:presLayoutVars>
          <dgm:chPref val="3"/>
        </dgm:presLayoutVars>
      </dgm:prSet>
      <dgm:spPr/>
    </dgm:pt>
    <dgm:pt modelId="{2B138521-B5B7-4AA2-BB1C-AFF0B8BAC830}" type="pres">
      <dgm:prSet presAssocID="{D7256E44-79B4-471B-B811-BF81D64FAF97}" presName="hierChild2" presStyleCnt="0"/>
      <dgm:spPr/>
    </dgm:pt>
  </dgm:ptLst>
  <dgm:cxnLst>
    <dgm:cxn modelId="{DC2F1D25-3C76-4E66-B264-A06833124304}" srcId="{DA7CFA9B-4F95-4942-84AE-9F7C2713AD98}" destId="{EDF7461B-9656-4384-82D5-02A825181B78}" srcOrd="1" destOrd="0" parTransId="{0D656C55-A72D-4CDE-A704-31866E719539}" sibTransId="{68A2884E-5BFC-4CA3-B565-7344B5A0C779}"/>
    <dgm:cxn modelId="{949BEA55-6BDA-4FF7-B491-11EC90BCDE91}" type="presOf" srcId="{D7256E44-79B4-471B-B811-BF81D64FAF97}" destId="{71BA17D7-C89F-4AAB-885B-349042CAC3B7}" srcOrd="0" destOrd="0" presId="urn:microsoft.com/office/officeart/2005/8/layout/hierarchy1"/>
    <dgm:cxn modelId="{1F8D4E56-6065-4060-90E0-ACFE30909697}" type="presOf" srcId="{EDF7461B-9656-4384-82D5-02A825181B78}" destId="{72B70CB2-A5E1-485C-A807-7E3BE9BF41BA}" srcOrd="0" destOrd="0" presId="urn:microsoft.com/office/officeart/2005/8/layout/hierarchy1"/>
    <dgm:cxn modelId="{2283D199-78B7-4C84-A116-A639A91736D5}" type="presOf" srcId="{C83A2056-B845-400A-9FD2-D0074051001E}" destId="{D0588B76-4E36-4BD2-AFFE-5AE86BE5F86A}" srcOrd="0" destOrd="0" presId="urn:microsoft.com/office/officeart/2005/8/layout/hierarchy1"/>
    <dgm:cxn modelId="{44A9A19F-C854-409A-B0E7-EF4A2F5227BA}" srcId="{DA7CFA9B-4F95-4942-84AE-9F7C2713AD98}" destId="{D7256E44-79B4-471B-B811-BF81D64FAF97}" srcOrd="2" destOrd="0" parTransId="{5B87F427-506E-417D-B026-22E5E5EB9289}" sibTransId="{274E0853-7D4E-4382-A935-3E451BA5B38B}"/>
    <dgm:cxn modelId="{67FC1BBF-990C-4F28-B058-014660EC8BC3}" srcId="{DA7CFA9B-4F95-4942-84AE-9F7C2713AD98}" destId="{C83A2056-B845-400A-9FD2-D0074051001E}" srcOrd="0" destOrd="0" parTransId="{1BC55E31-9874-4957-B5D0-7F542D9DD12F}" sibTransId="{126B3A8B-8989-42A6-9EA6-61ACAE93CACE}"/>
    <dgm:cxn modelId="{2210BEED-6F65-44CD-A764-734795DCC56C}" type="presOf" srcId="{DA7CFA9B-4F95-4942-84AE-9F7C2713AD98}" destId="{055A4720-DB6D-4819-B617-3D3653660B57}" srcOrd="0" destOrd="0" presId="urn:microsoft.com/office/officeart/2005/8/layout/hierarchy1"/>
    <dgm:cxn modelId="{B0141180-D165-4973-A80F-D8BA0ADDD77F}" type="presParOf" srcId="{055A4720-DB6D-4819-B617-3D3653660B57}" destId="{5B4A0B0C-92FF-4EF5-9C69-E804F3F10CD2}" srcOrd="0" destOrd="0" presId="urn:microsoft.com/office/officeart/2005/8/layout/hierarchy1"/>
    <dgm:cxn modelId="{847C512E-1BBE-421C-B7F6-F6A2CD280C50}" type="presParOf" srcId="{5B4A0B0C-92FF-4EF5-9C69-E804F3F10CD2}" destId="{031F6479-CE9A-4F43-9327-2ADEC9EB5F24}" srcOrd="0" destOrd="0" presId="urn:microsoft.com/office/officeart/2005/8/layout/hierarchy1"/>
    <dgm:cxn modelId="{1C590DED-3A80-4E34-8FDE-E024B51E42C0}" type="presParOf" srcId="{031F6479-CE9A-4F43-9327-2ADEC9EB5F24}" destId="{627DB538-4D21-47EF-9E7F-B6BC6B6A8E8D}" srcOrd="0" destOrd="0" presId="urn:microsoft.com/office/officeart/2005/8/layout/hierarchy1"/>
    <dgm:cxn modelId="{D00290AC-30DA-439C-B657-5AFFC9B4F64F}" type="presParOf" srcId="{031F6479-CE9A-4F43-9327-2ADEC9EB5F24}" destId="{D0588B76-4E36-4BD2-AFFE-5AE86BE5F86A}" srcOrd="1" destOrd="0" presId="urn:microsoft.com/office/officeart/2005/8/layout/hierarchy1"/>
    <dgm:cxn modelId="{6499D520-DE0F-4533-9EDF-06D0CCF00D0A}" type="presParOf" srcId="{5B4A0B0C-92FF-4EF5-9C69-E804F3F10CD2}" destId="{4463B904-3B71-4C3C-BE8A-C74AE020600E}" srcOrd="1" destOrd="0" presId="urn:microsoft.com/office/officeart/2005/8/layout/hierarchy1"/>
    <dgm:cxn modelId="{D6E142A8-C33B-443F-815A-333563C20C85}" type="presParOf" srcId="{055A4720-DB6D-4819-B617-3D3653660B57}" destId="{3AEFC50A-3288-400B-85A9-27B63CA129B2}" srcOrd="1" destOrd="0" presId="urn:microsoft.com/office/officeart/2005/8/layout/hierarchy1"/>
    <dgm:cxn modelId="{5A3E2B8B-B317-46F4-940D-CA7E6F4F9CD9}" type="presParOf" srcId="{3AEFC50A-3288-400B-85A9-27B63CA129B2}" destId="{45295653-6E21-4E20-976F-583927169793}" srcOrd="0" destOrd="0" presId="urn:microsoft.com/office/officeart/2005/8/layout/hierarchy1"/>
    <dgm:cxn modelId="{9B8F82C8-7FDB-42B8-8307-4590FE86AC58}" type="presParOf" srcId="{45295653-6E21-4E20-976F-583927169793}" destId="{5A3C83D5-8D72-44D1-9710-84B67B284ED3}" srcOrd="0" destOrd="0" presId="urn:microsoft.com/office/officeart/2005/8/layout/hierarchy1"/>
    <dgm:cxn modelId="{34FA1214-ABC3-4725-A731-94F57A32B3C9}" type="presParOf" srcId="{45295653-6E21-4E20-976F-583927169793}" destId="{72B70CB2-A5E1-485C-A807-7E3BE9BF41BA}" srcOrd="1" destOrd="0" presId="urn:microsoft.com/office/officeart/2005/8/layout/hierarchy1"/>
    <dgm:cxn modelId="{77DAC96C-6E45-4294-9B11-BFD3470B5734}" type="presParOf" srcId="{3AEFC50A-3288-400B-85A9-27B63CA129B2}" destId="{A6906F14-641A-4A57-BCD7-F32A05D8D90E}" srcOrd="1" destOrd="0" presId="urn:microsoft.com/office/officeart/2005/8/layout/hierarchy1"/>
    <dgm:cxn modelId="{65F22024-4251-430D-A6E1-F6AEF5420D0B}" type="presParOf" srcId="{055A4720-DB6D-4819-B617-3D3653660B57}" destId="{6349FA3A-A714-4E0D-A5AD-1AD8A7E844C6}" srcOrd="2" destOrd="0" presId="urn:microsoft.com/office/officeart/2005/8/layout/hierarchy1"/>
    <dgm:cxn modelId="{476A3002-3A6C-40E9-A68F-EC7F1AE193D0}" type="presParOf" srcId="{6349FA3A-A714-4E0D-A5AD-1AD8A7E844C6}" destId="{1F095C51-0449-414B-8C2F-B5F97F37456F}" srcOrd="0" destOrd="0" presId="urn:microsoft.com/office/officeart/2005/8/layout/hierarchy1"/>
    <dgm:cxn modelId="{D69AD2DD-D743-4297-AAE6-5D467F1FB523}" type="presParOf" srcId="{1F095C51-0449-414B-8C2F-B5F97F37456F}" destId="{E7500567-3BFF-468A-8627-12DDEBB2B4E2}" srcOrd="0" destOrd="0" presId="urn:microsoft.com/office/officeart/2005/8/layout/hierarchy1"/>
    <dgm:cxn modelId="{D1E71E0F-AC3A-4D43-A73F-422072540C25}" type="presParOf" srcId="{1F095C51-0449-414B-8C2F-B5F97F37456F}" destId="{71BA17D7-C89F-4AAB-885B-349042CAC3B7}" srcOrd="1" destOrd="0" presId="urn:microsoft.com/office/officeart/2005/8/layout/hierarchy1"/>
    <dgm:cxn modelId="{789AB4F1-1006-4AC5-BCBE-16476003CFE1}" type="presParOf" srcId="{6349FA3A-A714-4E0D-A5AD-1AD8A7E844C6}" destId="{2B138521-B5B7-4AA2-BB1C-AFF0B8BAC83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DB538-4D21-47EF-9E7F-B6BC6B6A8E8D}">
      <dsp:nvSpPr>
        <dsp:cNvPr id="0" name=""/>
        <dsp:cNvSpPr/>
      </dsp:nvSpPr>
      <dsp:spPr>
        <a:xfrm>
          <a:off x="0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588B76-4E36-4BD2-AFFE-5AE86BE5F86A}">
      <dsp:nvSpPr>
        <dsp:cNvPr id="0" name=""/>
        <dsp:cNvSpPr/>
      </dsp:nvSpPr>
      <dsp:spPr>
        <a:xfrm>
          <a:off x="255360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i="0" kern="1200"/>
            <a:t>BioVec performed well in clustering</a:t>
          </a:r>
          <a:r>
            <a:rPr lang="en-US" sz="1700" b="0" i="0" kern="1200"/>
            <a:t>, but </a:t>
          </a:r>
          <a:r>
            <a:rPr lang="en-US" sz="1700" b="1" i="0" kern="1200"/>
            <a:t>one-hot performed better in classification</a:t>
          </a:r>
          <a:endParaRPr lang="en-US" sz="1700" kern="1200"/>
        </a:p>
      </dsp:txBody>
      <dsp:txXfrm>
        <a:off x="298104" y="1136486"/>
        <a:ext cx="2212754" cy="1373895"/>
      </dsp:txXfrm>
    </dsp:sp>
    <dsp:sp modelId="{5A3C83D5-8D72-44D1-9710-84B67B284ED3}">
      <dsp:nvSpPr>
        <dsp:cNvPr id="0" name=""/>
        <dsp:cNvSpPr/>
      </dsp:nvSpPr>
      <dsp:spPr>
        <a:xfrm>
          <a:off x="2808962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70CB2-A5E1-485C-A807-7E3BE9BF41BA}">
      <dsp:nvSpPr>
        <dsp:cNvPr id="0" name=""/>
        <dsp:cNvSpPr/>
      </dsp:nvSpPr>
      <dsp:spPr>
        <a:xfrm>
          <a:off x="3064323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Best clustering: BioVec + cosine distance</a:t>
          </a:r>
          <a:endParaRPr lang="en-US" sz="1700" kern="1200"/>
        </a:p>
      </dsp:txBody>
      <dsp:txXfrm>
        <a:off x="3107067" y="1136486"/>
        <a:ext cx="2212754" cy="1373895"/>
      </dsp:txXfrm>
    </dsp:sp>
    <dsp:sp modelId="{E7500567-3BFF-468A-8627-12DDEBB2B4E2}">
      <dsp:nvSpPr>
        <dsp:cNvPr id="0" name=""/>
        <dsp:cNvSpPr/>
      </dsp:nvSpPr>
      <dsp:spPr>
        <a:xfrm>
          <a:off x="5617925" y="851150"/>
          <a:ext cx="2298242" cy="14593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BA17D7-C89F-4AAB-885B-349042CAC3B7}">
      <dsp:nvSpPr>
        <dsp:cNvPr id="0" name=""/>
        <dsp:cNvSpPr/>
      </dsp:nvSpPr>
      <dsp:spPr>
        <a:xfrm>
          <a:off x="5873285" y="1093742"/>
          <a:ext cx="2298242" cy="14593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Best classification: One-hot encoding + multi-input CNN</a:t>
          </a:r>
          <a:endParaRPr lang="en-US" sz="1700" kern="1200"/>
        </a:p>
      </dsp:txBody>
      <dsp:txXfrm>
        <a:off x="5916029" y="1136486"/>
        <a:ext cx="2212754" cy="13738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4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64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29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872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18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715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229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3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60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92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1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994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752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07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532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81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63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807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4009" y="1447800"/>
            <a:ext cx="3916743" cy="33295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>
                <a:solidFill>
                  <a:srgbClr val="EBEBEB"/>
                </a:solidFill>
              </a:rPr>
              <a:t>Multi-Gene Mammalian Species Classification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54009" y="4777380"/>
            <a:ext cx="3916744" cy="8614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Suman Attri</a:t>
            </a:r>
            <a:br>
              <a:rPr lang="en-I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</a:br>
            <a:r>
              <a:rPr lang="en-I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1055553</a:t>
            </a:r>
          </a:p>
          <a:p>
            <a:pPr>
              <a:lnSpc>
                <a:spcPct val="90000"/>
              </a:lnSpc>
            </a:pPr>
            <a:r>
              <a:rPr lang="en-IN" sz="14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DS-630</a:t>
            </a:r>
          </a:p>
        </p:txBody>
      </p:sp>
      <p:pic>
        <p:nvPicPr>
          <p:cNvPr id="7" name="Graphic 6" descr="DNA">
            <a:extLst>
              <a:ext uri="{FF2B5EF4-FFF2-40B4-BE49-F238E27FC236}">
                <a16:creationId xmlns:a16="http://schemas.microsoft.com/office/drawing/2014/main" id="{9A46D210-5C4D-1480-2077-2FAA53617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430" y="2441986"/>
            <a:ext cx="2202627" cy="2202627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SCOPE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Problem: Traditional species classification is manual and slow.</a:t>
            </a:r>
          </a:p>
          <a:p>
            <a:r>
              <a:rPr dirty="0"/>
              <a:t>Challenge: Hard to scale with massive genetic data.</a:t>
            </a:r>
          </a:p>
          <a:p>
            <a:r>
              <a:rPr dirty="0"/>
              <a:t>Goal: Automate classification using DNA and 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IN" sz="2900"/>
              <a:t>Biological Background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rPr dirty="0"/>
              <a:t>DNA is</a:t>
            </a:r>
            <a:r>
              <a:rPr lang="en-IN" dirty="0"/>
              <a:t> the instruction code of life. Think of it</a:t>
            </a:r>
            <a:r>
              <a:rPr dirty="0"/>
              <a:t> like a biological text document.</a:t>
            </a:r>
            <a:endParaRPr lang="en-IN" dirty="0"/>
          </a:p>
          <a:p>
            <a:r>
              <a:rPr lang="en-US" dirty="0"/>
              <a:t>Started with sequences from 6 genes across 105 mammal species.</a:t>
            </a:r>
            <a:endParaRPr lang="en-IN" dirty="0"/>
          </a:p>
          <a:p>
            <a:r>
              <a:rPr lang="en-US" dirty="0"/>
              <a:t>In DNA some genes store evolutionary data.</a:t>
            </a:r>
          </a:p>
          <a:p>
            <a:r>
              <a:rPr dirty="0"/>
              <a:t>These sequences contain patterns that ML can learn.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8141-A0EC-FC7E-E515-C4B774D84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 Set and Mammalian Groups: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DBF072-BDA2-55C2-B1BC-A70FCBCD4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Genes:</a:t>
            </a:r>
            <a:r>
              <a:rPr lang="en-IN" dirty="0"/>
              <a:t> COI, CYTB, RAG1, BRCA1, APOB, and 16S rRNA.</a:t>
            </a:r>
          </a:p>
          <a:p>
            <a:r>
              <a:rPr lang="en-IN" b="1" dirty="0"/>
              <a:t>Mammalian Groups: 105 species</a:t>
            </a:r>
            <a:endParaRPr lang="en-IN" dirty="0"/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Primates</a:t>
            </a:r>
            <a:r>
              <a:rPr lang="en-IN" dirty="0"/>
              <a:t>: 25 species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Rodents</a:t>
            </a:r>
            <a:r>
              <a:rPr lang="en-IN" dirty="0"/>
              <a:t>: 25 species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Carnivores</a:t>
            </a:r>
            <a:r>
              <a:rPr lang="en-IN" dirty="0"/>
              <a:t>: 25 species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/>
              <a:t>Ungulates (Bats)</a:t>
            </a:r>
            <a:r>
              <a:rPr lang="en-IN" dirty="0"/>
              <a:t>: 20 species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4140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Download &amp; clean DNA sequences</a:t>
            </a:r>
          </a:p>
          <a:p>
            <a:r>
              <a:rPr dirty="0"/>
              <a:t>2. Align and prepare sequences</a:t>
            </a:r>
            <a:endParaRPr lang="en-IN" dirty="0"/>
          </a:p>
          <a:p>
            <a:r>
              <a:rPr lang="en-IN" dirty="0"/>
              <a:t>3. Metadata Integration (</a:t>
            </a:r>
            <a:r>
              <a:rPr lang="en-US" dirty="0"/>
              <a:t>e.g., geographic regions, conservation status).</a:t>
            </a:r>
            <a:endParaRPr dirty="0"/>
          </a:p>
          <a:p>
            <a:r>
              <a:rPr lang="en-IN" dirty="0"/>
              <a:t>4</a:t>
            </a:r>
            <a:r>
              <a:rPr dirty="0"/>
              <a:t>. Feature extraction: k-</a:t>
            </a:r>
            <a:r>
              <a:rPr dirty="0" err="1"/>
              <a:t>mers</a:t>
            </a:r>
            <a:r>
              <a:rPr dirty="0"/>
              <a:t>, one-hot, </a:t>
            </a:r>
            <a:r>
              <a:rPr dirty="0" err="1"/>
              <a:t>BioVec</a:t>
            </a:r>
            <a:endParaRPr dirty="0"/>
          </a:p>
          <a:p>
            <a:r>
              <a:rPr lang="en-IN" dirty="0"/>
              <a:t>5</a:t>
            </a:r>
            <a:r>
              <a:rPr dirty="0"/>
              <a:t>. Train ML models</a:t>
            </a:r>
          </a:p>
          <a:p>
            <a:r>
              <a:rPr lang="en-IN" dirty="0"/>
              <a:t>6</a:t>
            </a:r>
            <a:r>
              <a:rPr dirty="0"/>
              <a:t>. </a:t>
            </a:r>
            <a:r>
              <a:rPr lang="en-US" dirty="0"/>
              <a:t>Phylogenetic tree supervision for evaluation 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IN" sz="3600"/>
              <a:t>Data Acquisition </a:t>
            </a: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36E338CC-67EC-BD85-B654-5995A5F615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31895" y="804671"/>
            <a:ext cx="4799948" cy="524865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Retrieved an existing phylogenetic tree from the Open Tree of Life via the public API.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Downloaded species metadata from the Mammal Diversity Database.</a:t>
            </a:r>
          </a:p>
          <a:p>
            <a:pPr defTabSz="914400" eaLnBrk="0" fontAlgn="base" hangingPunct="0">
              <a:spcBef>
                <a:spcPct val="0"/>
              </a:spcBef>
              <a:spcAft>
                <a:spcPts val="600"/>
              </a:spcAft>
              <a:buClrTx/>
              <a:buSzTx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Acquired DNA sequences for six genes from NCBI using the Entrez API.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974F-0556-4E73-CB08-CBE8B597E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IN"/>
              <a:t>Initial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93211-9871-5EDF-1FA8-6C5FE827A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rPr lang="en-US" dirty="0"/>
              <a:t>Excluded </a:t>
            </a:r>
            <a:r>
              <a:rPr lang="en-US" b="1" dirty="0"/>
              <a:t>16S rRNA</a:t>
            </a:r>
            <a:r>
              <a:rPr lang="en-US" dirty="0"/>
              <a:t> due to significant missing data across mammalian species.</a:t>
            </a:r>
          </a:p>
          <a:p>
            <a:r>
              <a:rPr lang="en-US" dirty="0"/>
              <a:t>Filtered the dataset to retain only mammalian species with complete sequences for the five remaining target genes—resulting in </a:t>
            </a:r>
            <a:r>
              <a:rPr lang="en-US" b="1" dirty="0"/>
              <a:t>64 species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8830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A9DC0-4441-AA29-616A-3C2362CE6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8" y="629266"/>
            <a:ext cx="3124882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600">
                <a:solidFill>
                  <a:srgbClr val="EBEBEB"/>
                </a:solidFill>
              </a:rPr>
              <a:t>Gene-wise Sequence Filtering and Cleaning</a:t>
            </a:r>
            <a:endParaRPr lang="en-IN" sz="2600">
              <a:solidFill>
                <a:srgbClr val="EBEBEB"/>
              </a:solidFill>
            </a:endParaRP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5515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095864" y="809550"/>
            <a:ext cx="6858001" cy="52389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96C4-A717-78D0-FBA3-06C23E775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2438400"/>
            <a:ext cx="3524193" cy="3785419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>
              <a:solidFill>
                <a:srgbClr val="EBEBEB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BEBEB"/>
                </a:solidFill>
              </a:rPr>
              <a:t>Each gene dataset was saved as a separate FASTA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BEBEB"/>
                </a:solidFill>
              </a:rPr>
              <a:t>Sequences were filtered to remove low-quality entries and ambiguous bases (e.g., 'N').</a:t>
            </a:r>
          </a:p>
          <a:p>
            <a:endParaRPr lang="en-US" dirty="0">
              <a:solidFill>
                <a:srgbClr val="EBEBEB"/>
              </a:solidFill>
            </a:endParaRPr>
          </a:p>
          <a:p>
            <a:endParaRPr lang="en-US" dirty="0">
              <a:solidFill>
                <a:srgbClr val="EBEBEB"/>
              </a:solidFill>
            </a:endParaRPr>
          </a:p>
          <a:p>
            <a:endParaRPr lang="en-IN" kern="100" dirty="0">
              <a:solidFill>
                <a:srgbClr val="EBEBEB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rgbClr val="EBEBEB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DA9BFEA-BD77-2F55-D798-22C66C41E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09795"/>
              </p:ext>
            </p:extLst>
          </p:nvPr>
        </p:nvGraphicFramePr>
        <p:xfrm>
          <a:off x="4206926" y="2605682"/>
          <a:ext cx="4741038" cy="220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846">
                  <a:extLst>
                    <a:ext uri="{9D8B030D-6E8A-4147-A177-3AD203B41FA5}">
                      <a16:colId xmlns:a16="http://schemas.microsoft.com/office/drawing/2014/main" val="512566324"/>
                    </a:ext>
                  </a:extLst>
                </a:gridCol>
                <a:gridCol w="1126994">
                  <a:extLst>
                    <a:ext uri="{9D8B030D-6E8A-4147-A177-3AD203B41FA5}">
                      <a16:colId xmlns:a16="http://schemas.microsoft.com/office/drawing/2014/main" val="1713266233"/>
                    </a:ext>
                  </a:extLst>
                </a:gridCol>
                <a:gridCol w="837846">
                  <a:extLst>
                    <a:ext uri="{9D8B030D-6E8A-4147-A177-3AD203B41FA5}">
                      <a16:colId xmlns:a16="http://schemas.microsoft.com/office/drawing/2014/main" val="2331201498"/>
                    </a:ext>
                  </a:extLst>
                </a:gridCol>
                <a:gridCol w="915099">
                  <a:extLst>
                    <a:ext uri="{9D8B030D-6E8A-4147-A177-3AD203B41FA5}">
                      <a16:colId xmlns:a16="http://schemas.microsoft.com/office/drawing/2014/main" val="1043551134"/>
                    </a:ext>
                  </a:extLst>
                </a:gridCol>
                <a:gridCol w="1023253">
                  <a:extLst>
                    <a:ext uri="{9D8B030D-6E8A-4147-A177-3AD203B41FA5}">
                      <a16:colId xmlns:a16="http://schemas.microsoft.com/office/drawing/2014/main" val="320548530"/>
                    </a:ext>
                  </a:extLst>
                </a:gridCol>
              </a:tblGrid>
              <a:tr h="552862">
                <a:tc>
                  <a:txBody>
                    <a:bodyPr/>
                    <a:lstStyle/>
                    <a:p>
                      <a:r>
                        <a:rPr lang="en-IN" sz="1200"/>
                        <a:t>Gene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Total Sequences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Filtered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Deleted- Length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Deleted- Ambiguity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107594096"/>
                  </a:ext>
                </a:extLst>
              </a:tr>
              <a:tr h="331011">
                <a:tc>
                  <a:txBody>
                    <a:bodyPr/>
                    <a:lstStyle/>
                    <a:p>
                      <a:r>
                        <a:rPr lang="en-IN" sz="1200"/>
                        <a:t>COI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92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87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2029688817"/>
                  </a:ext>
                </a:extLst>
              </a:tr>
              <a:tr h="331011">
                <a:tc>
                  <a:txBody>
                    <a:bodyPr/>
                    <a:lstStyle/>
                    <a:p>
                      <a:r>
                        <a:rPr lang="en-IN" sz="1200"/>
                        <a:t>CytB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91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81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333144876"/>
                  </a:ext>
                </a:extLst>
              </a:tr>
              <a:tr h="331011">
                <a:tc>
                  <a:txBody>
                    <a:bodyPr/>
                    <a:lstStyle/>
                    <a:p>
                      <a:r>
                        <a:rPr lang="en-IN" sz="1200"/>
                        <a:t>RAG1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84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60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9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740307508"/>
                  </a:ext>
                </a:extLst>
              </a:tr>
              <a:tr h="331011">
                <a:tc>
                  <a:txBody>
                    <a:bodyPr/>
                    <a:lstStyle/>
                    <a:p>
                      <a:r>
                        <a:rPr lang="en-IN" sz="1200"/>
                        <a:t>BRCA1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73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55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9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3747880441"/>
                  </a:ext>
                </a:extLst>
              </a:tr>
              <a:tr h="331011">
                <a:tc>
                  <a:txBody>
                    <a:bodyPr/>
                    <a:lstStyle/>
                    <a:p>
                      <a:r>
                        <a:rPr lang="en-IN" sz="1200"/>
                        <a:t>APOB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74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46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18</a:t>
                      </a:r>
                    </a:p>
                  </a:txBody>
                  <a:tcPr marL="46042" marR="46042" marT="23022" marB="23022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10</a:t>
                      </a:r>
                    </a:p>
                  </a:txBody>
                  <a:tcPr marL="46042" marR="46042" marT="23022" marB="23022"/>
                </a:tc>
                <a:extLst>
                  <a:ext uri="{0D108BD9-81ED-4DB2-BD59-A6C34878D82A}">
                    <a16:rowId xmlns:a16="http://schemas.microsoft.com/office/drawing/2014/main" val="3064114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7275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7AF6B8-8AFB-13DE-F3DE-1D2BAF1BF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>
                <a:solidFill>
                  <a:srgbClr val="EBEBEB"/>
                </a:solidFill>
              </a:rPr>
              <a:t>Identifying Common Species Across Genes</a:t>
            </a:r>
            <a:endParaRPr lang="en-IN" sz="3600">
              <a:solidFill>
                <a:srgbClr val="EBEBEB"/>
              </a:solidFill>
            </a:endParaRP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854097" y="1567784"/>
            <a:ext cx="6858001" cy="3722434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6FA199-FF1D-3EB4-F44C-BDD48EF33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03" y="1481005"/>
            <a:ext cx="2560507" cy="3895987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10E52-A2A5-879B-5F8E-0B73F7333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2438400"/>
            <a:ext cx="4641142" cy="378541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Species names were extracted from sequence headers and standardized for consistency.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solidFill>
                  <a:srgbClr val="FFFFFF"/>
                </a:solidFill>
              </a:rPr>
              <a:t>A cross-gene comparison identified 24 species present in all five filtered gene datasets.</a:t>
            </a:r>
          </a:p>
          <a:p>
            <a:endParaRPr lang="en-US">
              <a:solidFill>
                <a:srgbClr val="FFFFFF"/>
              </a:solidFill>
            </a:endParaRPr>
          </a:p>
          <a:p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8662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30D1A1-0EBC-964C-9F1C-134AA196C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4641143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>
                <a:solidFill>
                  <a:srgbClr val="EBEBEB"/>
                </a:solidFill>
              </a:rPr>
              <a:t>Phylogenetic Preprocessing </a:t>
            </a:r>
            <a:br>
              <a:rPr lang="en-IN" sz="3600" b="0" i="0">
                <a:solidFill>
                  <a:srgbClr val="EBEBEB"/>
                </a:solidFill>
                <a:effectLst/>
                <a:latin typeface="system-ui"/>
              </a:rPr>
            </a:br>
            <a:endParaRPr lang="en-IN" sz="3600">
              <a:solidFill>
                <a:srgbClr val="EBEBEB"/>
              </a:solidFill>
            </a:endParaRP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61980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854097" y="1567784"/>
            <a:ext cx="6858001" cy="3722434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9" name="Picture 8" descr="A diagram of a flowchart&#10;&#10;AI-generated content may be incorrect.">
            <a:extLst>
              <a:ext uri="{FF2B5EF4-FFF2-40B4-BE49-F238E27FC236}">
                <a16:creationId xmlns:a16="http://schemas.microsoft.com/office/drawing/2014/main" id="{67BC5F99-941B-71AA-96BB-BBE1E767E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403" y="1511016"/>
            <a:ext cx="2560507" cy="3835965"/>
          </a:xfrm>
          <a:prstGeom prst="rect">
            <a:avLst/>
          </a:prstGeom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969B5-66BE-08EA-F976-3AB1CFCA0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1891146"/>
            <a:ext cx="4641142" cy="43326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MAFFT was used to align sequences from common species for each gene.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 err="1">
                <a:solidFill>
                  <a:srgbClr val="FFFFFF"/>
                </a:solidFill>
              </a:rPr>
              <a:t>TrimAl</a:t>
            </a:r>
            <a:r>
              <a:rPr lang="en-US" sz="1900" dirty="0">
                <a:solidFill>
                  <a:srgbClr val="FFFFFF"/>
                </a:solidFill>
              </a:rPr>
              <a:t> removed poorly aligned or gappy regions to enhance alignment quality.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Unique PHYLIP-safe IDs were generated to ensure compatibility with phylogenetic tools.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Final outputs included trimmed FASTA and PHYLIP files, ready for tree reconstruction.</a:t>
            </a:r>
          </a:p>
          <a:p>
            <a:pPr marL="0" indent="0">
              <a:lnSpc>
                <a:spcPct val="90000"/>
              </a:lnSpc>
              <a:buNone/>
            </a:pPr>
            <a:endParaRPr lang="en-IN" sz="1900" kern="100" dirty="0">
              <a:solidFill>
                <a:srgbClr val="FFFFFF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endParaRPr lang="en-IN" sz="19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963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212163" cy="162232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Feature Engineering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EFB3AD-CCD8-101A-24ED-89B6E3DDBC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1113" y="2421526"/>
            <a:ext cx="3801644" cy="2566110"/>
          </a:xfrm>
          <a:prstGeom prst="rect">
            <a:avLst/>
          </a:prstGeom>
          <a:effectLst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119746"/>
            <a:ext cx="4212162" cy="410407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 dirty="0">
                <a:solidFill>
                  <a:srgbClr val="FFFFFF"/>
                </a:solidFill>
              </a:rPr>
              <a:t>K-</a:t>
            </a:r>
            <a:r>
              <a:rPr lang="en-US" sz="1900" dirty="0" err="1">
                <a:solidFill>
                  <a:srgbClr val="FFFFFF"/>
                </a:solidFill>
              </a:rPr>
              <a:t>mer</a:t>
            </a:r>
            <a:r>
              <a:rPr lang="en-US" sz="1900" dirty="0">
                <a:solidFill>
                  <a:srgbClr val="FFFFFF"/>
                </a:solidFill>
              </a:rPr>
              <a:t> Frequencies(k=3): Captures small DNA patterns (like word counts).</a:t>
            </a:r>
            <a:endParaRPr lang="en-IN" sz="1900" dirty="0">
              <a:solidFill>
                <a:srgbClr val="FFFFFF"/>
              </a:solidFill>
              <a:effectLst/>
            </a:endParaRPr>
          </a:p>
          <a:p>
            <a:pPr>
              <a:lnSpc>
                <a:spcPct val="90000"/>
              </a:lnSpc>
            </a:pPr>
            <a:r>
              <a:rPr lang="en-IN" sz="1900" dirty="0">
                <a:solidFill>
                  <a:srgbClr val="FFFFFF"/>
                </a:solidFill>
              </a:rPr>
              <a:t>One-Hot Encoding: Converted aligned sequences into a 5-channel matrix: A, T, G, C, gap to </a:t>
            </a:r>
            <a:r>
              <a:rPr lang="en-US" sz="1900" dirty="0">
                <a:solidFill>
                  <a:srgbClr val="FFFFFF"/>
                </a:solidFill>
              </a:rPr>
              <a:t>preserve position and structure in sequences.</a:t>
            </a:r>
            <a:endParaRPr lang="en-IN" sz="19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r>
              <a:rPr lang="en-IN" sz="1900" dirty="0" err="1">
                <a:solidFill>
                  <a:srgbClr val="FFFFFF"/>
                </a:solidFill>
              </a:rPr>
              <a:t>BioVec</a:t>
            </a:r>
            <a:r>
              <a:rPr lang="en-IN" sz="1900" dirty="0">
                <a:solidFill>
                  <a:srgbClr val="FFFFFF"/>
                </a:solidFill>
              </a:rPr>
              <a:t> Embeddings: Used pre-trained Genism model- Word2Vec, to create 100-dimensional semantic vectors from DNA sequences.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DE54-D5F0-5971-3677-C8878D24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697" y="629266"/>
            <a:ext cx="6939116" cy="1223983"/>
          </a:xfrm>
        </p:spPr>
        <p:txBody>
          <a:bodyPr>
            <a:normAutofit/>
          </a:bodyPr>
          <a:lstStyle/>
          <a:p>
            <a:r>
              <a:rPr lang="en-IN" b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Metadata Integration</a:t>
            </a: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A82750-4B9A-DB41-FF4D-4F8881256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11" y="2576946"/>
            <a:ext cx="5872543" cy="227560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F61B9-D879-4C7E-9B03-74B2FC232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5554" y="2052214"/>
            <a:ext cx="2247711" cy="4196185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>
              <a:effectLst/>
            </a:endParaRPr>
          </a:p>
          <a:p>
            <a:r>
              <a:rPr lang="en-IN" dirty="0"/>
              <a:t>Geocoded species distribution. </a:t>
            </a:r>
          </a:p>
          <a:p>
            <a:r>
              <a:rPr lang="en-IN" dirty="0"/>
              <a:t>Encoded IUCN conservation status as ordinal.</a:t>
            </a:r>
          </a:p>
        </p:txBody>
      </p:sp>
    </p:spTree>
    <p:extLst>
      <p:ext uri="{BB962C8B-B14F-4D97-AF65-F5344CB8AC3E}">
        <p14:creationId xmlns:p14="http://schemas.microsoft.com/office/powerpoint/2010/main" val="1009473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B081F-4F02-C600-8B8E-04F91231F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84" y="452718"/>
            <a:ext cx="4221916" cy="140053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4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Phylogenetic Supervision:</a:t>
            </a:r>
            <a:br>
              <a:rPr lang="en-IN" sz="29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29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BF3B9-13C6-3927-C3EF-18EB1F476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84" y="2052918"/>
            <a:ext cx="4221476" cy="4195481"/>
          </a:xfrm>
        </p:spPr>
        <p:txBody>
          <a:bodyPr>
            <a:normAutofit/>
          </a:bodyPr>
          <a:lstStyle/>
          <a:p>
            <a:pPr>
              <a:buNone/>
            </a:pPr>
            <a:endParaRPr lang="en-IN" dirty="0">
              <a:effectLst/>
            </a:endParaRPr>
          </a:p>
          <a:p>
            <a:r>
              <a:rPr lang="en-IN" dirty="0"/>
              <a:t>Generated Distance </a:t>
            </a:r>
            <a:r>
              <a:rPr lang="en-IN" dirty="0" err="1"/>
              <a:t>dataframe</a:t>
            </a:r>
            <a:r>
              <a:rPr lang="en-IN" dirty="0"/>
              <a:t> from </a:t>
            </a:r>
            <a:r>
              <a:rPr lang="en-IN" dirty="0" err="1"/>
              <a:t>Pylogenetic</a:t>
            </a:r>
            <a:r>
              <a:rPr lang="en-IN" dirty="0"/>
              <a:t> tress.</a:t>
            </a:r>
          </a:p>
          <a:p>
            <a:r>
              <a:rPr lang="en-US" dirty="0"/>
              <a:t>Created a </a:t>
            </a:r>
            <a:r>
              <a:rPr lang="en-US" b="1" dirty="0"/>
              <a:t>square matrix</a:t>
            </a:r>
            <a:r>
              <a:rPr lang="en-US" dirty="0"/>
              <a:t> representing pairwise evolutionary distances between species.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D1AB63-C517-3D4E-B553-208E4DFF5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0838" y="1433577"/>
            <a:ext cx="3837072" cy="1400530"/>
          </a:xfrm>
          <a:prstGeom prst="rect">
            <a:avLst/>
          </a:prstGeom>
          <a:effectLst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2B1C4B-7F74-732E-7B90-B8BFE5C252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118" y="3013728"/>
            <a:ext cx="3763792" cy="32271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00425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Hierarchical Clustering:</a:t>
            </a:r>
            <a:r>
              <a:rPr lang="en-US" dirty="0"/>
              <a:t> Applied clustering on species using </a:t>
            </a:r>
            <a:r>
              <a:rPr lang="en-US" dirty="0" err="1"/>
              <a:t>BioVec</a:t>
            </a:r>
            <a:r>
              <a:rPr lang="en-US" dirty="0"/>
              <a:t> embeddings to capture evolutionary relationships.</a:t>
            </a:r>
          </a:p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Multi-Input CNN: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a convolutional neural network (CNN) model utilizing gene embeddings (one-hot encoded) along with metadata features.</a:t>
            </a:r>
            <a:endParaRPr lang="en-US" dirty="0"/>
          </a:p>
          <a:p>
            <a:r>
              <a:rPr lang="en-US" b="1" dirty="0"/>
              <a:t>Goal:</a:t>
            </a:r>
            <a:r>
              <a:rPr lang="en-US" dirty="0"/>
              <a:t> The primary objective is to create a phylogenetic tree based on gene embeddings to better understand species relationships.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304CD-A8F4-497B-4ACB-6D9779FB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38" y="428984"/>
            <a:ext cx="6873154" cy="831400"/>
          </a:xfrm>
        </p:spPr>
        <p:txBody>
          <a:bodyPr>
            <a:normAutofit/>
          </a:bodyPr>
          <a:lstStyle/>
          <a:p>
            <a:r>
              <a:rPr lang="en-IN" sz="3500" dirty="0"/>
              <a:t>Generated Phylogenetic Trees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B9908E-A275-7305-9FEF-7F3257C24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2" y="2261958"/>
            <a:ext cx="3746816" cy="37846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0DBCE47-6E84-01CF-FC6B-21F6B3680C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4656" y="2869554"/>
            <a:ext cx="4489993" cy="1975596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858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212163" cy="1622321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EBEBEB"/>
                </a:solidFill>
              </a:rPr>
              <a:t>Evaluation Metrics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9" name="Picture 8" descr="A graph with a line graph&#10;&#10;AI-generated content may be incorrect.">
            <a:extLst>
              <a:ext uri="{FF2B5EF4-FFF2-40B4-BE49-F238E27FC236}">
                <a16:creationId xmlns:a16="http://schemas.microsoft.com/office/drawing/2014/main" id="{803C95ED-0C87-FC5C-D432-53FB90419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806" y="2514810"/>
            <a:ext cx="2985104" cy="1828376"/>
          </a:xfrm>
          <a:prstGeom prst="rect">
            <a:avLst/>
          </a:prstGeom>
          <a:effectLst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438400"/>
            <a:ext cx="421216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000" b="1">
                <a:solidFill>
                  <a:srgbClr val="FFFFFF"/>
                </a:solidFill>
              </a:rPr>
              <a:t>CNN Model Evaluation:</a:t>
            </a:r>
            <a:endParaRPr lang="en-US" sz="10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FFFFFF"/>
                </a:solidFill>
              </a:rPr>
              <a:t>Accuracy:</a:t>
            </a:r>
            <a:r>
              <a:rPr lang="en-US" sz="1000">
                <a:solidFill>
                  <a:srgbClr val="FFFFFF"/>
                </a:solidFill>
              </a:rPr>
              <a:t> 0.5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FFFFFF"/>
                </a:solidFill>
              </a:rPr>
              <a:t>Precision:</a:t>
            </a:r>
            <a:r>
              <a:rPr lang="en-US" sz="1000">
                <a:solidFill>
                  <a:srgbClr val="FFFFFF"/>
                </a:solidFill>
              </a:rPr>
              <a:t> 0.39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FFFFFF"/>
                </a:solidFill>
              </a:rPr>
              <a:t>Recall:</a:t>
            </a:r>
            <a:r>
              <a:rPr lang="en-US" sz="1000">
                <a:solidFill>
                  <a:srgbClr val="FFFFFF"/>
                </a:solidFill>
              </a:rPr>
              <a:t> 0.5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FFFFFF"/>
                </a:solidFill>
              </a:rPr>
              <a:t>F1 Score:</a:t>
            </a:r>
            <a:r>
              <a:rPr lang="en-US" sz="1000">
                <a:solidFill>
                  <a:srgbClr val="FFFFFF"/>
                </a:solidFill>
              </a:rPr>
              <a:t> 0.44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FFFFFF"/>
                </a:solidFill>
              </a:rPr>
              <a:t>Training Curve:</a:t>
            </a:r>
            <a:r>
              <a:rPr lang="en-US" sz="1000">
                <a:solidFill>
                  <a:srgbClr val="FFFFFF"/>
                </a:solidFill>
              </a:rPr>
              <a:t> Visualized for CNN model performance.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FFFFFF"/>
                </a:solidFill>
              </a:rPr>
              <a:t>Dendrograms:</a:t>
            </a:r>
            <a:r>
              <a:rPr lang="en-IN" sz="1000">
                <a:solidFill>
                  <a:srgbClr val="FFFFFF"/>
                </a:solidFill>
              </a:rPr>
              <a:t> Visualized using </a:t>
            </a:r>
            <a:r>
              <a:rPr lang="en-IN" sz="1000" b="1">
                <a:solidFill>
                  <a:srgbClr val="FFFFFF"/>
                </a:solidFill>
              </a:rPr>
              <a:t>Phylo.draw_ascii</a:t>
            </a:r>
            <a:r>
              <a:rPr lang="en-IN" sz="1000">
                <a:solidFill>
                  <a:srgbClr val="FFFFFF"/>
                </a:solidFill>
              </a:rPr>
              <a:t> for CNN results.</a:t>
            </a:r>
          </a:p>
          <a:p>
            <a:pPr>
              <a:lnSpc>
                <a:spcPct val="90000"/>
              </a:lnSpc>
            </a:pPr>
            <a:r>
              <a:rPr lang="en-IN" sz="1000" b="1">
                <a:solidFill>
                  <a:srgbClr val="FFFFFF"/>
                </a:solidFill>
              </a:rPr>
              <a:t>Hierarchical Clustering Evaluation:</a:t>
            </a:r>
            <a:endParaRPr lang="en-IN" sz="1000">
              <a:solidFill>
                <a:srgbClr val="FFFFFF"/>
              </a:solidFill>
            </a:endParaRP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FFFFFF"/>
                </a:solidFill>
              </a:rPr>
              <a:t>Distance Metric:</a:t>
            </a:r>
            <a:r>
              <a:rPr lang="en-IN" sz="1000">
                <a:solidFill>
                  <a:srgbClr val="FFFFFF"/>
                </a:solidFill>
              </a:rPr>
              <a:t> Cosine distance used for clustering.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FFFFFF"/>
                </a:solidFill>
              </a:rPr>
              <a:t>Cluster Validity:</a:t>
            </a:r>
            <a:r>
              <a:rPr lang="en-IN" sz="1000">
                <a:solidFill>
                  <a:srgbClr val="FFFFFF"/>
                </a:solidFill>
              </a:rPr>
              <a:t> Measured using </a:t>
            </a:r>
            <a:r>
              <a:rPr lang="en-IN" sz="1000" b="1">
                <a:solidFill>
                  <a:srgbClr val="FFFFFF"/>
                </a:solidFill>
              </a:rPr>
              <a:t>Silhouette Score</a:t>
            </a:r>
            <a:r>
              <a:rPr lang="en-IN" sz="1000">
                <a:solidFill>
                  <a:srgbClr val="FFFFFF"/>
                </a:solidFill>
              </a:rPr>
              <a:t> (0.4511).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FFFFFF"/>
                </a:solidFill>
              </a:rPr>
              <a:t>Contingency Tables</a:t>
            </a:r>
            <a:r>
              <a:rPr lang="en-IN" sz="1000">
                <a:solidFill>
                  <a:srgbClr val="FFFFFF"/>
                </a:solidFill>
              </a:rPr>
              <a:t>: Used to assess cluster coherence.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000" b="1">
                <a:solidFill>
                  <a:srgbClr val="FFFFFF"/>
                </a:solidFill>
              </a:rPr>
              <a:t>Dendogram </a:t>
            </a:r>
            <a:r>
              <a:rPr lang="en-IN" sz="1000">
                <a:solidFill>
                  <a:srgbClr val="FFFFFF"/>
                </a:solidFill>
              </a:rPr>
              <a:t>was visualized.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IN" sz="1000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515115-95FB-41E0-86F3-8744438C0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6"/>
            <a:ext cx="4212163" cy="162232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600">
                <a:solidFill>
                  <a:srgbClr val="EBEBEB"/>
                </a:solidFill>
              </a:rPr>
              <a:t>Clustering by Biogeographic Region: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8222A33F-BE2D-4D69-92A0-5DF8B17BA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373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E1C74D0-9609-468A-9597-5D87C8A42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641798" y="1355484"/>
            <a:ext cx="6858001" cy="4147033"/>
          </a:xfrm>
          <a:custGeom>
            <a:avLst/>
            <a:gdLst>
              <a:gd name="connsiteX0" fmla="*/ 6858001 w 6858001"/>
              <a:gd name="connsiteY0" fmla="*/ 1177 h 5529377"/>
              <a:gd name="connsiteX1" fmla="*/ 6858001 w 6858001"/>
              <a:gd name="connsiteY1" fmla="*/ 1344715 h 5529377"/>
              <a:gd name="connsiteX2" fmla="*/ 6858000 w 6858001"/>
              <a:gd name="connsiteY2" fmla="*/ 1344715 h 5529377"/>
              <a:gd name="connsiteX3" fmla="*/ 6858000 w 6858001"/>
              <a:gd name="connsiteY3" fmla="*/ 5529377 h 5529377"/>
              <a:gd name="connsiteX4" fmla="*/ 0 w 6858001"/>
              <a:gd name="connsiteY4" fmla="*/ 5529376 h 5529377"/>
              <a:gd name="connsiteX5" fmla="*/ 0 w 6858001"/>
              <a:gd name="connsiteY5" fmla="*/ 891096 h 5529377"/>
              <a:gd name="connsiteX6" fmla="*/ 1 w 6858001"/>
              <a:gd name="connsiteY6" fmla="*/ 891096 h 5529377"/>
              <a:gd name="connsiteX7" fmla="*/ 1 w 6858001"/>
              <a:gd name="connsiteY7" fmla="*/ 0 h 5529377"/>
              <a:gd name="connsiteX8" fmla="*/ 40463 w 6858001"/>
              <a:gd name="connsiteY8" fmla="*/ 5883 h 5529377"/>
              <a:gd name="connsiteX9" fmla="*/ 159107 w 6858001"/>
              <a:gd name="connsiteY9" fmla="*/ 23196 h 5529377"/>
              <a:gd name="connsiteX10" fmla="*/ 245518 w 6858001"/>
              <a:gd name="connsiteY10" fmla="*/ 35299 h 5529377"/>
              <a:gd name="connsiteX11" fmla="*/ 348388 w 6858001"/>
              <a:gd name="connsiteY11" fmla="*/ 48073 h 5529377"/>
              <a:gd name="connsiteX12" fmla="*/ 470460 w 6858001"/>
              <a:gd name="connsiteY12" fmla="*/ 63369 h 5529377"/>
              <a:gd name="connsiteX13" fmla="*/ 605563 w 6858001"/>
              <a:gd name="connsiteY13" fmla="*/ 79506 h 5529377"/>
              <a:gd name="connsiteX14" fmla="*/ 757810 w 6858001"/>
              <a:gd name="connsiteY14" fmla="*/ 96483 h 5529377"/>
              <a:gd name="connsiteX15" fmla="*/ 923774 w 6858001"/>
              <a:gd name="connsiteY15" fmla="*/ 114469 h 5529377"/>
              <a:gd name="connsiteX16" fmla="*/ 1104139 w 6858001"/>
              <a:gd name="connsiteY16" fmla="*/ 132454 h 5529377"/>
              <a:gd name="connsiteX17" fmla="*/ 1296163 w 6858001"/>
              <a:gd name="connsiteY17" fmla="*/ 150776 h 5529377"/>
              <a:gd name="connsiteX18" fmla="*/ 1503275 w 6858001"/>
              <a:gd name="connsiteY18" fmla="*/ 167753 h 5529377"/>
              <a:gd name="connsiteX19" fmla="*/ 1719988 w 6858001"/>
              <a:gd name="connsiteY19" fmla="*/ 184058 h 5529377"/>
              <a:gd name="connsiteX20" fmla="*/ 1949045 w 6858001"/>
              <a:gd name="connsiteY20" fmla="*/ 198849 h 5529377"/>
              <a:gd name="connsiteX21" fmla="*/ 2187703 w 6858001"/>
              <a:gd name="connsiteY21" fmla="*/ 212969 h 5529377"/>
              <a:gd name="connsiteX22" fmla="*/ 2436649 w 6858001"/>
              <a:gd name="connsiteY22" fmla="*/ 226248 h 5529377"/>
              <a:gd name="connsiteX23" fmla="*/ 2564208 w 6858001"/>
              <a:gd name="connsiteY23" fmla="*/ 230955 h 5529377"/>
              <a:gd name="connsiteX24" fmla="*/ 2694509 w 6858001"/>
              <a:gd name="connsiteY24" fmla="*/ 236165 h 5529377"/>
              <a:gd name="connsiteX25" fmla="*/ 2826868 w 6858001"/>
              <a:gd name="connsiteY25" fmla="*/ 241040 h 5529377"/>
              <a:gd name="connsiteX26" fmla="*/ 2959914 w 6858001"/>
              <a:gd name="connsiteY26" fmla="*/ 244234 h 5529377"/>
              <a:gd name="connsiteX27" fmla="*/ 3095702 w 6858001"/>
              <a:gd name="connsiteY27" fmla="*/ 247091 h 5529377"/>
              <a:gd name="connsiteX28" fmla="*/ 3232862 w 6858001"/>
              <a:gd name="connsiteY28" fmla="*/ 250117 h 5529377"/>
              <a:gd name="connsiteX29" fmla="*/ 3372765 w 6858001"/>
              <a:gd name="connsiteY29" fmla="*/ 252134 h 5529377"/>
              <a:gd name="connsiteX30" fmla="*/ 3514040 w 6858001"/>
              <a:gd name="connsiteY30" fmla="*/ 252134 h 5529377"/>
              <a:gd name="connsiteX31" fmla="*/ 3656686 w 6858001"/>
              <a:gd name="connsiteY31" fmla="*/ 253142 h 5529377"/>
              <a:gd name="connsiteX32" fmla="*/ 3800704 w 6858001"/>
              <a:gd name="connsiteY32" fmla="*/ 252134 h 5529377"/>
              <a:gd name="connsiteX33" fmla="*/ 3946780 w 6858001"/>
              <a:gd name="connsiteY33" fmla="*/ 250117 h 5529377"/>
              <a:gd name="connsiteX34" fmla="*/ 4092855 w 6858001"/>
              <a:gd name="connsiteY34" fmla="*/ 248268 h 5529377"/>
              <a:gd name="connsiteX35" fmla="*/ 4240988 w 6858001"/>
              <a:gd name="connsiteY35" fmla="*/ 244234 h 5529377"/>
              <a:gd name="connsiteX36" fmla="*/ 4390492 w 6858001"/>
              <a:gd name="connsiteY36" fmla="*/ 240032 h 5529377"/>
              <a:gd name="connsiteX37" fmla="*/ 4539997 w 6858001"/>
              <a:gd name="connsiteY37" fmla="*/ 235157 h 5529377"/>
              <a:gd name="connsiteX38" fmla="*/ 4690873 w 6858001"/>
              <a:gd name="connsiteY38" fmla="*/ 228266 h 5529377"/>
              <a:gd name="connsiteX39" fmla="*/ 4843120 w 6858001"/>
              <a:gd name="connsiteY39" fmla="*/ 220029 h 5529377"/>
              <a:gd name="connsiteX40" fmla="*/ 4996054 w 6858001"/>
              <a:gd name="connsiteY40" fmla="*/ 212129 h 5529377"/>
              <a:gd name="connsiteX41" fmla="*/ 5148987 w 6858001"/>
              <a:gd name="connsiteY41" fmla="*/ 202044 h 5529377"/>
              <a:gd name="connsiteX42" fmla="*/ 5303978 w 6858001"/>
              <a:gd name="connsiteY42" fmla="*/ 189941 h 5529377"/>
              <a:gd name="connsiteX43" fmla="*/ 5456911 w 6858001"/>
              <a:gd name="connsiteY43" fmla="*/ 177839 h 5529377"/>
              <a:gd name="connsiteX44" fmla="*/ 5612588 w 6858001"/>
              <a:gd name="connsiteY44" fmla="*/ 163887 h 5529377"/>
              <a:gd name="connsiteX45" fmla="*/ 5768950 w 6858001"/>
              <a:gd name="connsiteY45" fmla="*/ 148591 h 5529377"/>
              <a:gd name="connsiteX46" fmla="*/ 5923255 w 6858001"/>
              <a:gd name="connsiteY46" fmla="*/ 132455 h 5529377"/>
              <a:gd name="connsiteX47" fmla="*/ 6079618 w 6858001"/>
              <a:gd name="connsiteY47" fmla="*/ 113629 h 5529377"/>
              <a:gd name="connsiteX48" fmla="*/ 6235294 w 6858001"/>
              <a:gd name="connsiteY48" fmla="*/ 93458 h 5529377"/>
              <a:gd name="connsiteX49" fmla="*/ 6391657 w 6858001"/>
              <a:gd name="connsiteY49" fmla="*/ 73455 h 5529377"/>
              <a:gd name="connsiteX50" fmla="*/ 6547333 w 6858001"/>
              <a:gd name="connsiteY50" fmla="*/ 50091 h 5529377"/>
              <a:gd name="connsiteX51" fmla="*/ 6702324 w 6858001"/>
              <a:gd name="connsiteY51" fmla="*/ 26222 h 5529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5529377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5529377"/>
                </a:lnTo>
                <a:lnTo>
                  <a:pt x="0" y="5529376"/>
                </a:lnTo>
                <a:lnTo>
                  <a:pt x="0" y="891096"/>
                </a:lnTo>
                <a:lnTo>
                  <a:pt x="1" y="891096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4632E3-38DA-44A3-80B5-01FF59632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2806" y="2865560"/>
            <a:ext cx="2985104" cy="1126876"/>
          </a:xfrm>
          <a:prstGeom prst="rect">
            <a:avLst/>
          </a:prstGeom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137128D-E594-4905-9F76-E385F0831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438400"/>
            <a:ext cx="4212162" cy="3785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IN" sz="1300" b="1" dirty="0">
                <a:solidFill>
                  <a:srgbClr val="FFFFFF"/>
                </a:solidFill>
              </a:rPr>
              <a:t>Cluster Distribution across Regions:</a:t>
            </a:r>
            <a:endParaRPr lang="en-IN" sz="13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FFFFFF"/>
                </a:solidFill>
              </a:rPr>
              <a:t>Cluster 1:</a:t>
            </a:r>
            <a:r>
              <a:rPr lang="en-IN" sz="1300" dirty="0">
                <a:solidFill>
                  <a:srgbClr val="FFFFFF"/>
                </a:solidFill>
              </a:rPr>
              <a:t> Primarily concentrated in the </a:t>
            </a:r>
            <a:r>
              <a:rPr lang="en-IN" sz="1300" b="1" dirty="0" err="1">
                <a:solidFill>
                  <a:srgbClr val="FFFFFF"/>
                </a:solidFill>
              </a:rPr>
              <a:t>Nearctic|South</a:t>
            </a:r>
            <a:r>
              <a:rPr lang="en-IN" sz="1300" b="1" dirty="0">
                <a:solidFill>
                  <a:srgbClr val="FFFFFF"/>
                </a:solidFill>
              </a:rPr>
              <a:t> and Central America</a:t>
            </a:r>
            <a:r>
              <a:rPr lang="en-IN" sz="13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FFFFFF"/>
                </a:solidFill>
              </a:rPr>
              <a:t>Cluster 2:</a:t>
            </a:r>
            <a:r>
              <a:rPr lang="en-IN" sz="1300" dirty="0">
                <a:solidFill>
                  <a:srgbClr val="FFFFFF"/>
                </a:solidFill>
              </a:rPr>
              <a:t> Predominantly found in the </a:t>
            </a:r>
            <a:r>
              <a:rPr lang="en-IN" sz="1300" b="1" dirty="0">
                <a:solidFill>
                  <a:srgbClr val="FFFFFF"/>
                </a:solidFill>
              </a:rPr>
              <a:t>Afrotropic, </a:t>
            </a:r>
            <a:r>
              <a:rPr lang="en-IN" sz="1300" b="1" dirty="0" err="1">
                <a:solidFill>
                  <a:srgbClr val="FFFFFF"/>
                </a:solidFill>
              </a:rPr>
              <a:t>Neotropic</a:t>
            </a:r>
            <a:r>
              <a:rPr lang="en-IN" sz="1300" dirty="0">
                <a:solidFill>
                  <a:srgbClr val="FFFFFF"/>
                </a:solidFill>
              </a:rPr>
              <a:t> and </a:t>
            </a:r>
            <a:r>
              <a:rPr lang="en-IN" sz="1300" b="1" dirty="0" err="1">
                <a:solidFill>
                  <a:srgbClr val="FFFFFF"/>
                </a:solidFill>
              </a:rPr>
              <a:t>Nearctic|Northern</a:t>
            </a:r>
            <a:r>
              <a:rPr lang="en-IN" sz="1300" b="1" dirty="0">
                <a:solidFill>
                  <a:srgbClr val="FFFFFF"/>
                </a:solidFill>
              </a:rPr>
              <a:t> Hemisphere</a:t>
            </a:r>
            <a:r>
              <a:rPr lang="en-IN" sz="13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FFFFFF"/>
                </a:solidFill>
              </a:rPr>
              <a:t>Cluster 3:</a:t>
            </a:r>
            <a:r>
              <a:rPr lang="en-IN" sz="1300" dirty="0">
                <a:solidFill>
                  <a:srgbClr val="FFFFFF"/>
                </a:solidFill>
              </a:rPr>
              <a:t> Strong representation in regions like </a:t>
            </a:r>
            <a:r>
              <a:rPr lang="en-IN" sz="1300" b="1" dirty="0">
                <a:solidFill>
                  <a:srgbClr val="FFFFFF"/>
                </a:solidFill>
              </a:rPr>
              <a:t>Afrotropic</a:t>
            </a:r>
            <a:r>
              <a:rPr lang="en-IN" sz="1300" dirty="0">
                <a:solidFill>
                  <a:srgbClr val="FFFFFF"/>
                </a:solidFill>
              </a:rPr>
              <a:t>, </a:t>
            </a:r>
            <a:r>
              <a:rPr lang="en-IN" sz="1300" b="1" dirty="0" err="1">
                <a:solidFill>
                  <a:srgbClr val="FFFFFF"/>
                </a:solidFill>
              </a:rPr>
              <a:t>Neotropic</a:t>
            </a:r>
            <a:r>
              <a:rPr lang="en-IN" sz="1300" b="1" dirty="0">
                <a:solidFill>
                  <a:srgbClr val="FFFFFF"/>
                </a:solidFill>
              </a:rPr>
              <a:t>| Norther Asia.</a:t>
            </a:r>
            <a:endParaRPr lang="en-IN" sz="1300" dirty="0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IN" sz="1300" b="1" dirty="0">
                <a:solidFill>
                  <a:srgbClr val="FFFFFF"/>
                </a:solidFill>
              </a:rPr>
              <a:t>Cluster 4:</a:t>
            </a:r>
            <a:r>
              <a:rPr lang="en-IN" sz="1300" dirty="0">
                <a:solidFill>
                  <a:srgbClr val="FFFFFF"/>
                </a:solidFill>
              </a:rPr>
              <a:t> Enriched with species from the </a:t>
            </a:r>
            <a:r>
              <a:rPr lang="en-IN" sz="1300" b="1" dirty="0">
                <a:solidFill>
                  <a:srgbClr val="FFFFFF"/>
                </a:solidFill>
              </a:rPr>
              <a:t>Palearctic</a:t>
            </a:r>
            <a:r>
              <a:rPr lang="en-IN" sz="1300" dirty="0">
                <a:solidFill>
                  <a:srgbClr val="FFFFFF"/>
                </a:solidFill>
              </a:rPr>
              <a:t>, </a:t>
            </a:r>
            <a:r>
              <a:rPr lang="en-IN" sz="1300" b="1" dirty="0" err="1">
                <a:solidFill>
                  <a:srgbClr val="FFFFFF"/>
                </a:solidFill>
              </a:rPr>
              <a:t>Neotropic,Indomalaya</a:t>
            </a:r>
            <a:r>
              <a:rPr lang="en-IN" sz="1300" b="1" dirty="0">
                <a:solidFill>
                  <a:srgbClr val="FFFFFF"/>
                </a:solidFill>
              </a:rPr>
              <a:t> </a:t>
            </a:r>
            <a:r>
              <a:rPr lang="en-IN" sz="1300" dirty="0">
                <a:solidFill>
                  <a:srgbClr val="FFFFFF"/>
                </a:solidFill>
              </a:rPr>
              <a:t>and </a:t>
            </a:r>
            <a:r>
              <a:rPr lang="en-IN" sz="1300" b="1" dirty="0" err="1">
                <a:solidFill>
                  <a:srgbClr val="FFFFFF"/>
                </a:solidFill>
              </a:rPr>
              <a:t>Afrotropic|Southern</a:t>
            </a:r>
            <a:r>
              <a:rPr lang="en-IN" sz="1300" b="1" dirty="0">
                <a:solidFill>
                  <a:srgbClr val="FFFFFF"/>
                </a:solidFill>
              </a:rPr>
              <a:t> Asia</a:t>
            </a:r>
            <a:r>
              <a:rPr lang="en-IN" sz="1300" dirty="0">
                <a:solidFill>
                  <a:srgbClr val="FFFFFF"/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sz="1300" b="1" dirty="0">
                <a:solidFill>
                  <a:srgbClr val="FFFFFF"/>
                </a:solidFill>
              </a:rPr>
              <a:t>Key Insight:</a:t>
            </a:r>
            <a:r>
              <a:rPr lang="en-US" sz="1300" dirty="0">
                <a:solidFill>
                  <a:srgbClr val="FFFFFF"/>
                </a:solidFill>
              </a:rPr>
              <a:t> Species are clustering not only by evolutionary features but also according to their </a:t>
            </a:r>
            <a:r>
              <a:rPr lang="en-US" sz="1300" b="1" dirty="0">
                <a:solidFill>
                  <a:srgbClr val="FFFFFF"/>
                </a:solidFill>
              </a:rPr>
              <a:t>geographic</a:t>
            </a:r>
            <a:r>
              <a:rPr lang="en-US" sz="1300" dirty="0">
                <a:solidFill>
                  <a:srgbClr val="FFFFFF"/>
                </a:solidFill>
              </a:rPr>
              <a:t> proximity.</a:t>
            </a:r>
            <a:endParaRPr lang="en-IN" sz="1300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B13FF8-2B3C-4BC1-B3E4-254B3F8C3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BF4C8-82F0-408E-FA5E-0749C522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17" y="629266"/>
            <a:ext cx="2337517" cy="5594554"/>
          </a:xfrm>
        </p:spPr>
        <p:txBody>
          <a:bodyPr anchor="ctr">
            <a:normAutofit/>
          </a:bodyPr>
          <a:lstStyle/>
          <a:p>
            <a:r>
              <a:rPr lang="en-IN" sz="2600" b="1">
                <a:solidFill>
                  <a:srgbClr val="EBEBEB"/>
                </a:solidFill>
              </a:rPr>
              <a:t>Clustering by Conservation Status:</a:t>
            </a:r>
            <a:br>
              <a:rPr lang="en-IN" sz="2600">
                <a:solidFill>
                  <a:srgbClr val="EBEBEB"/>
                </a:solidFill>
              </a:rPr>
            </a:br>
            <a:endParaRPr lang="en-IN" sz="2600">
              <a:solidFill>
                <a:srgbClr val="EBEBEB"/>
              </a:solidFill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B9C1207E-FFD8-4821-AFE6-71C72436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61082" y="-1"/>
            <a:ext cx="419604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2B199503-2632-490F-8EB2-759D88708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2703491" y="417491"/>
            <a:ext cx="6858001" cy="6023018"/>
          </a:xfrm>
          <a:custGeom>
            <a:avLst/>
            <a:gdLst>
              <a:gd name="connsiteX0" fmla="*/ 6858001 w 6858001"/>
              <a:gd name="connsiteY0" fmla="*/ 1177 h 8030691"/>
              <a:gd name="connsiteX1" fmla="*/ 6858001 w 6858001"/>
              <a:gd name="connsiteY1" fmla="*/ 1344715 h 8030691"/>
              <a:gd name="connsiteX2" fmla="*/ 6858000 w 6858001"/>
              <a:gd name="connsiteY2" fmla="*/ 1344715 h 8030691"/>
              <a:gd name="connsiteX3" fmla="*/ 6858000 w 6858001"/>
              <a:gd name="connsiteY3" fmla="*/ 8030691 h 8030691"/>
              <a:gd name="connsiteX4" fmla="*/ 0 w 6858001"/>
              <a:gd name="connsiteY4" fmla="*/ 8030690 h 8030691"/>
              <a:gd name="connsiteX5" fmla="*/ 0 w 6858001"/>
              <a:gd name="connsiteY5" fmla="*/ 477747 h 8030691"/>
              <a:gd name="connsiteX6" fmla="*/ 1 w 6858001"/>
              <a:gd name="connsiteY6" fmla="*/ 477747 h 8030691"/>
              <a:gd name="connsiteX7" fmla="*/ 1 w 6858001"/>
              <a:gd name="connsiteY7" fmla="*/ 0 h 8030691"/>
              <a:gd name="connsiteX8" fmla="*/ 40463 w 6858001"/>
              <a:gd name="connsiteY8" fmla="*/ 5883 h 8030691"/>
              <a:gd name="connsiteX9" fmla="*/ 159107 w 6858001"/>
              <a:gd name="connsiteY9" fmla="*/ 23196 h 8030691"/>
              <a:gd name="connsiteX10" fmla="*/ 245518 w 6858001"/>
              <a:gd name="connsiteY10" fmla="*/ 35299 h 8030691"/>
              <a:gd name="connsiteX11" fmla="*/ 348388 w 6858001"/>
              <a:gd name="connsiteY11" fmla="*/ 48074 h 8030691"/>
              <a:gd name="connsiteX12" fmla="*/ 470460 w 6858001"/>
              <a:gd name="connsiteY12" fmla="*/ 63370 h 8030691"/>
              <a:gd name="connsiteX13" fmla="*/ 605563 w 6858001"/>
              <a:gd name="connsiteY13" fmla="*/ 79507 h 8030691"/>
              <a:gd name="connsiteX14" fmla="*/ 757810 w 6858001"/>
              <a:gd name="connsiteY14" fmla="*/ 96484 h 8030691"/>
              <a:gd name="connsiteX15" fmla="*/ 923774 w 6858001"/>
              <a:gd name="connsiteY15" fmla="*/ 114469 h 8030691"/>
              <a:gd name="connsiteX16" fmla="*/ 1104139 w 6858001"/>
              <a:gd name="connsiteY16" fmla="*/ 132455 h 8030691"/>
              <a:gd name="connsiteX17" fmla="*/ 1296163 w 6858001"/>
              <a:gd name="connsiteY17" fmla="*/ 150776 h 8030691"/>
              <a:gd name="connsiteX18" fmla="*/ 1503275 w 6858001"/>
              <a:gd name="connsiteY18" fmla="*/ 167753 h 8030691"/>
              <a:gd name="connsiteX19" fmla="*/ 1719988 w 6858001"/>
              <a:gd name="connsiteY19" fmla="*/ 184058 h 8030691"/>
              <a:gd name="connsiteX20" fmla="*/ 1949045 w 6858001"/>
              <a:gd name="connsiteY20" fmla="*/ 198850 h 8030691"/>
              <a:gd name="connsiteX21" fmla="*/ 2187703 w 6858001"/>
              <a:gd name="connsiteY21" fmla="*/ 212969 h 8030691"/>
              <a:gd name="connsiteX22" fmla="*/ 2436649 w 6858001"/>
              <a:gd name="connsiteY22" fmla="*/ 226249 h 8030691"/>
              <a:gd name="connsiteX23" fmla="*/ 2564208 w 6858001"/>
              <a:gd name="connsiteY23" fmla="*/ 230955 h 8030691"/>
              <a:gd name="connsiteX24" fmla="*/ 2694509 w 6858001"/>
              <a:gd name="connsiteY24" fmla="*/ 236166 h 8030691"/>
              <a:gd name="connsiteX25" fmla="*/ 2826869 w 6858001"/>
              <a:gd name="connsiteY25" fmla="*/ 241040 h 8030691"/>
              <a:gd name="connsiteX26" fmla="*/ 2959914 w 6858001"/>
              <a:gd name="connsiteY26" fmla="*/ 244234 h 8030691"/>
              <a:gd name="connsiteX27" fmla="*/ 3095702 w 6858001"/>
              <a:gd name="connsiteY27" fmla="*/ 247092 h 8030691"/>
              <a:gd name="connsiteX28" fmla="*/ 3232862 w 6858001"/>
              <a:gd name="connsiteY28" fmla="*/ 250117 h 8030691"/>
              <a:gd name="connsiteX29" fmla="*/ 3372766 w 6858001"/>
              <a:gd name="connsiteY29" fmla="*/ 252134 h 8030691"/>
              <a:gd name="connsiteX30" fmla="*/ 3514040 w 6858001"/>
              <a:gd name="connsiteY30" fmla="*/ 252134 h 8030691"/>
              <a:gd name="connsiteX31" fmla="*/ 3656686 w 6858001"/>
              <a:gd name="connsiteY31" fmla="*/ 253143 h 8030691"/>
              <a:gd name="connsiteX32" fmla="*/ 3800705 w 6858001"/>
              <a:gd name="connsiteY32" fmla="*/ 252134 h 8030691"/>
              <a:gd name="connsiteX33" fmla="*/ 3946780 w 6858001"/>
              <a:gd name="connsiteY33" fmla="*/ 250117 h 8030691"/>
              <a:gd name="connsiteX34" fmla="*/ 4092856 w 6858001"/>
              <a:gd name="connsiteY34" fmla="*/ 248268 h 8030691"/>
              <a:gd name="connsiteX35" fmla="*/ 4240988 w 6858001"/>
              <a:gd name="connsiteY35" fmla="*/ 244234 h 8030691"/>
              <a:gd name="connsiteX36" fmla="*/ 4390492 w 6858001"/>
              <a:gd name="connsiteY36" fmla="*/ 240032 h 8030691"/>
              <a:gd name="connsiteX37" fmla="*/ 4539997 w 6858001"/>
              <a:gd name="connsiteY37" fmla="*/ 235157 h 8030691"/>
              <a:gd name="connsiteX38" fmla="*/ 4690873 w 6858001"/>
              <a:gd name="connsiteY38" fmla="*/ 228266 h 8030691"/>
              <a:gd name="connsiteX39" fmla="*/ 4843120 w 6858001"/>
              <a:gd name="connsiteY39" fmla="*/ 220029 h 8030691"/>
              <a:gd name="connsiteX40" fmla="*/ 4996054 w 6858001"/>
              <a:gd name="connsiteY40" fmla="*/ 212129 h 8030691"/>
              <a:gd name="connsiteX41" fmla="*/ 5148987 w 6858001"/>
              <a:gd name="connsiteY41" fmla="*/ 202044 h 8030691"/>
              <a:gd name="connsiteX42" fmla="*/ 5303978 w 6858001"/>
              <a:gd name="connsiteY42" fmla="*/ 189941 h 8030691"/>
              <a:gd name="connsiteX43" fmla="*/ 5456911 w 6858001"/>
              <a:gd name="connsiteY43" fmla="*/ 177839 h 8030691"/>
              <a:gd name="connsiteX44" fmla="*/ 5612588 w 6858001"/>
              <a:gd name="connsiteY44" fmla="*/ 163887 h 8030691"/>
              <a:gd name="connsiteX45" fmla="*/ 5768950 w 6858001"/>
              <a:gd name="connsiteY45" fmla="*/ 148591 h 8030691"/>
              <a:gd name="connsiteX46" fmla="*/ 5923255 w 6858001"/>
              <a:gd name="connsiteY46" fmla="*/ 132455 h 8030691"/>
              <a:gd name="connsiteX47" fmla="*/ 6079618 w 6858001"/>
              <a:gd name="connsiteY47" fmla="*/ 113629 h 8030691"/>
              <a:gd name="connsiteX48" fmla="*/ 6235294 w 6858001"/>
              <a:gd name="connsiteY48" fmla="*/ 93458 h 8030691"/>
              <a:gd name="connsiteX49" fmla="*/ 6391657 w 6858001"/>
              <a:gd name="connsiteY49" fmla="*/ 73455 h 8030691"/>
              <a:gd name="connsiteX50" fmla="*/ 6547333 w 6858001"/>
              <a:gd name="connsiteY50" fmla="*/ 50091 h 8030691"/>
              <a:gd name="connsiteX51" fmla="*/ 6702324 w 6858001"/>
              <a:gd name="connsiteY51" fmla="*/ 26222 h 803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8030691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8030691"/>
                </a:lnTo>
                <a:lnTo>
                  <a:pt x="0" y="8030690"/>
                </a:lnTo>
                <a:lnTo>
                  <a:pt x="0" y="477747"/>
                </a:lnTo>
                <a:lnTo>
                  <a:pt x="1" y="47774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4"/>
                </a:lnTo>
                <a:lnTo>
                  <a:pt x="470460" y="63370"/>
                </a:lnTo>
                <a:lnTo>
                  <a:pt x="605563" y="79507"/>
                </a:lnTo>
                <a:lnTo>
                  <a:pt x="757810" y="96484"/>
                </a:lnTo>
                <a:lnTo>
                  <a:pt x="923774" y="114469"/>
                </a:lnTo>
                <a:lnTo>
                  <a:pt x="1104139" y="132455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50"/>
                </a:lnTo>
                <a:lnTo>
                  <a:pt x="2187703" y="212969"/>
                </a:lnTo>
                <a:lnTo>
                  <a:pt x="2436649" y="226249"/>
                </a:lnTo>
                <a:lnTo>
                  <a:pt x="2564208" y="230955"/>
                </a:lnTo>
                <a:lnTo>
                  <a:pt x="2694509" y="236166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2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3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C7CB4-0228-486A-931A-262ABB670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7633A-A943-88CB-313B-EAF18EC28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0687" y="904009"/>
            <a:ext cx="5430804" cy="280563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200" b="1" dirty="0"/>
              <a:t>Cluster Distribution across Conservation Status (IUCN):</a:t>
            </a:r>
            <a:endParaRPr lang="en-US" sz="1200" dirty="0"/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Cluster 1:</a:t>
            </a:r>
            <a:r>
              <a:rPr lang="en-US" sz="1200" dirty="0"/>
              <a:t> Species mostly have </a:t>
            </a:r>
            <a:r>
              <a:rPr lang="en-US" sz="1200" b="1" dirty="0"/>
              <a:t>Least Concern (LC)</a:t>
            </a:r>
            <a:r>
              <a:rPr lang="en-US" sz="1200" dirty="0"/>
              <a:t> status.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Cluster 2:</a:t>
            </a:r>
            <a:r>
              <a:rPr lang="en-US" sz="1200" dirty="0"/>
              <a:t> A mix of species, with a notable presence of </a:t>
            </a:r>
            <a:r>
              <a:rPr lang="en-US" sz="1200" b="1" dirty="0"/>
              <a:t>Endangered (EN)</a:t>
            </a:r>
            <a:r>
              <a:rPr lang="en-US" sz="1200" dirty="0"/>
              <a:t> and </a:t>
            </a:r>
            <a:r>
              <a:rPr lang="en-US" sz="1200" b="1" dirty="0"/>
              <a:t>Vulnerable (VU)</a:t>
            </a:r>
            <a:r>
              <a:rPr lang="en-US" sz="1200" dirty="0"/>
              <a:t> species.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Cluster 3:</a:t>
            </a:r>
            <a:r>
              <a:rPr lang="en-US" sz="1200" dirty="0"/>
              <a:t> Primarily </a:t>
            </a:r>
            <a:r>
              <a:rPr lang="en-US" sz="1200" b="1" dirty="0"/>
              <a:t>Endangered (EN)</a:t>
            </a:r>
            <a:r>
              <a:rPr lang="en-US" sz="1200" dirty="0"/>
              <a:t> and </a:t>
            </a:r>
            <a:r>
              <a:rPr lang="en-US" sz="1200" b="1" dirty="0"/>
              <a:t>Critically Endangered (CR)</a:t>
            </a:r>
            <a:r>
              <a:rPr lang="en-US" sz="1200" dirty="0"/>
              <a:t> species.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Cluster 4:</a:t>
            </a:r>
            <a:r>
              <a:rPr lang="en-US" sz="1200" dirty="0"/>
              <a:t> Contains a large proportion of</a:t>
            </a:r>
            <a:r>
              <a:rPr lang="en-US" sz="1200" b="1" dirty="0"/>
              <a:t> Endangered</a:t>
            </a:r>
            <a:r>
              <a:rPr lang="en-US" sz="1200" dirty="0"/>
              <a:t> and </a:t>
            </a:r>
            <a:r>
              <a:rPr lang="en-US" sz="1200" b="1" dirty="0"/>
              <a:t>Vulnerable (VU)</a:t>
            </a:r>
            <a:r>
              <a:rPr lang="en-US" sz="1200" dirty="0"/>
              <a:t> species.</a:t>
            </a:r>
          </a:p>
          <a:p>
            <a:pPr>
              <a:lnSpc>
                <a:spcPct val="90000"/>
              </a:lnSpc>
            </a:pPr>
            <a:r>
              <a:rPr lang="en-US" sz="1200" b="1" dirty="0"/>
              <a:t>Key Insight:</a:t>
            </a:r>
            <a:r>
              <a:rPr lang="en-US" sz="1200" dirty="0"/>
              <a:t> Clusters show a correlation between species </a:t>
            </a:r>
            <a:r>
              <a:rPr lang="en-US" sz="1200" b="1" dirty="0"/>
              <a:t>evolutionary distance</a:t>
            </a:r>
            <a:r>
              <a:rPr lang="en-US" sz="1200" dirty="0"/>
              <a:t> and their </a:t>
            </a:r>
            <a:r>
              <a:rPr lang="en-US" sz="1200" b="1" dirty="0"/>
              <a:t>conservation risk</a:t>
            </a:r>
            <a:r>
              <a:rPr lang="en-US" sz="1200" dirty="0"/>
              <a:t>.</a:t>
            </a:r>
            <a:endParaRPr lang="en-IN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BADA59-F322-E053-A811-B4CA1F0B3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339" y="3562395"/>
            <a:ext cx="4871885" cy="1772996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2435210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EBEBEB"/>
                </a:solidFill>
              </a:rPr>
              <a:t>Key Results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2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9EDD94-13C6-E33F-EB89-31ABAF0B15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4071410"/>
              </p:ext>
            </p:extLst>
          </p:nvPr>
        </p:nvGraphicFramePr>
        <p:xfrm>
          <a:off x="486697" y="2810256"/>
          <a:ext cx="8171528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9141714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6454408" y="6228080"/>
            <a:ext cx="745301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191" y="0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646" y="804672"/>
            <a:ext cx="264101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IN" sz="3600"/>
              <a:t>Surprising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1895" y="804671"/>
            <a:ext cx="4799948" cy="5248657"/>
          </a:xfrm>
        </p:spPr>
        <p:txBody>
          <a:bodyPr anchor="ctr">
            <a:normAutofit/>
          </a:bodyPr>
          <a:lstStyle/>
          <a:p>
            <a:r>
              <a:rPr lang="en-US" dirty="0"/>
              <a:t>One-hot encoding outperformed </a:t>
            </a:r>
            <a:r>
              <a:rPr lang="en-US" dirty="0" err="1"/>
              <a:t>BioVec</a:t>
            </a:r>
            <a:r>
              <a:rPr lang="en-US" dirty="0"/>
              <a:t> in classification due to alignment preserving positional pattern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Apply to environmental DNA</a:t>
            </a:r>
            <a:r>
              <a:rPr lang="en-IN" dirty="0"/>
              <a:t> samples to detect species presence. </a:t>
            </a:r>
          </a:p>
          <a:p>
            <a:r>
              <a:rPr lang="en-IN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Predict branch lengths directly using deep regression</a:t>
            </a:r>
            <a:endParaRPr dirty="0"/>
          </a:p>
          <a:p>
            <a:r>
              <a:rPr dirty="0"/>
              <a:t>Develop web tools for researchers</a:t>
            </a:r>
            <a:endParaRPr lang="en-IN" dirty="0"/>
          </a:p>
          <a:p>
            <a:r>
              <a:rPr lang="en-US" dirty="0"/>
              <a:t>Expand dataset size and diversity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ML can assist biological taxonomy</a:t>
            </a:r>
          </a:p>
          <a:p>
            <a:r>
              <a:t>Multi-gene input improves accuracy</a:t>
            </a:r>
          </a:p>
          <a:p>
            <a:r>
              <a:t>BioVec-style embeddings show strong promise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10236</TotalTime>
  <Words>936</Words>
  <Application>Microsoft Office PowerPoint</Application>
  <PresentationFormat>On-screen Show (4:3)</PresentationFormat>
  <Paragraphs>136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Century Gothic</vt:lpstr>
      <vt:lpstr>system-ui</vt:lpstr>
      <vt:lpstr>Wingdings 3</vt:lpstr>
      <vt:lpstr>Ion</vt:lpstr>
      <vt:lpstr>Multi-Gene Mammalian Species Classification Using Machine Learning</vt:lpstr>
      <vt:lpstr>SCOPE</vt:lpstr>
      <vt:lpstr>Biological Background</vt:lpstr>
      <vt:lpstr>Gene Set and Mammalian Groups:</vt:lpstr>
      <vt:lpstr>Project Pipeline Overview</vt:lpstr>
      <vt:lpstr>Data Acquisition </vt:lpstr>
      <vt:lpstr>Initial Filtering</vt:lpstr>
      <vt:lpstr>Gene-wise Sequence Filtering and Cleaning</vt:lpstr>
      <vt:lpstr>Identifying Common Species Across Genes</vt:lpstr>
      <vt:lpstr>Phylogenetic Preprocessing  </vt:lpstr>
      <vt:lpstr>Feature Engineering</vt:lpstr>
      <vt:lpstr>Metadata Integration</vt:lpstr>
      <vt:lpstr>Phylogenetic Supervision: </vt:lpstr>
      <vt:lpstr>Machine Learning Models</vt:lpstr>
      <vt:lpstr>Generated Phylogenetic Trees</vt:lpstr>
      <vt:lpstr>Evaluation Metrics</vt:lpstr>
      <vt:lpstr>Clustering by Biogeographic Region:</vt:lpstr>
      <vt:lpstr>Clustering by Conservation Status: </vt:lpstr>
      <vt:lpstr>Key Results</vt:lpstr>
      <vt:lpstr>Surprising Outcomes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Ankush Ahuja</dc:creator>
  <cp:keywords/>
  <dc:description>generated using python-pptx</dc:description>
  <cp:lastModifiedBy>Attri, Suman</cp:lastModifiedBy>
  <cp:revision>3</cp:revision>
  <dcterms:created xsi:type="dcterms:W3CDTF">2013-01-27T09:14:16Z</dcterms:created>
  <dcterms:modified xsi:type="dcterms:W3CDTF">2025-05-12T14:59:41Z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2025-05-02T19:54:35Z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350c54e6-0497-4fff-b117-17d8181c8aac</vt:lpwstr>
  </property>
  <property fmtid="{D5CDD505-2E9C-101B-9397-08002B2CF9AE}" pid="7" name="MSIP_Label_defa4170-0d19-0005-0004-bc88714345d2_ActionId">
    <vt:lpwstr>0ac0977f-a993-4dc0-bd4e-6ac33430dfb0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